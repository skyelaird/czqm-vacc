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3" d="100"/>
          <a:sy n="193" d="100"/>
        </p:scale>
        <p:origin x="168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34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  •  CONTROLLER TRAINING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User's Walkthrough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 and core functions of the EuroScope plugin — explained one screen at a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4864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official TopSky plugin documentation 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4736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v2.6 •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TopSky?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ATC-system simulation plugin for EuroScope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</a:t>
            </a: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plugin for EuroScope that recreates the look and feel of the TopSky ATM system used in real-world ACCs.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Customised aircraft tag items and tag menus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elements on the radar display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Coordination, conflict probe and safety nets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CPDLC data-link messaging support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deck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tour, not a manual replacement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146304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73152" cy="1463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live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Menu, radar display, track labels, windows.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4023360" cy="146304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73152" cy="1463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983480" y="1325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operate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8348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Left/right click conventions, menu folders, toggles.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4023360" cy="146304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73152" cy="1463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85800" y="3017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other sectors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3703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PEL/COPN, XFL/COPX, releases, HOP, ROF, RTI/TIP.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4023360" cy="146304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73152" cy="1463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4983480" y="3017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dig deeper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83480" y="3703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+ page references back to the official PDFs.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screen is shown — that's what you'll see in the sim. If a menu path is in quotes — that's exactly what you'll click.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2331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0" y="32461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Menu and Air Situation Display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Menu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starting point — across the top of the radar screen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207008"/>
            <a:ext cx="8375904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0" descr="/sessions/loving-quirky-goldberg/mnt/outputs/deck_imgs/global_menu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80160"/>
            <a:ext cx="82296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9019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don't see this bar, the plugin isn't loaded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25908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16:21:40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UTC clock — opens Clock 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configuration menu (covered next)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Airspace Management — activate / deactivate areas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 data tools — flight plan list, predicted traffic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tools — Notepad, Message In/Out, ATC Msgs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— winds, weather messages, weather radar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brackets are configurable client-specific menus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 / MSG / 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windows, messages, status displays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Radar Ranges (sector/airspace selection)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M000-999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 number / SSR code group selection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menu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tune what the plugin shows you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31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4864" cy="960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 (Air Situation Display)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642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brightness, label settings, fonts, vector lengths.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280160"/>
            <a:ext cx="3931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617720" y="1280160"/>
            <a:ext cx="54864" cy="960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8006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Control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6642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fields appear on tracks for selected vs. unselected aircraft.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3931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54864" cy="960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27614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STCA, MSAW, APW, AIW toggles and inhibition settings.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377440"/>
            <a:ext cx="3931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4617720" y="2377440"/>
            <a:ext cx="54864" cy="960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480060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MTCD / TCT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27614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and tactical controller tools on/off.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3931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54864" cy="960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CPDLC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8587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 callsign filters and message presentation options.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3474720"/>
            <a:ext cx="3931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4617720" y="3474720"/>
            <a:ext cx="54864" cy="960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480060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Load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00600" y="38587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your personal layout — windows, label fields, brightness.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Save your Setup once you have it tuned — it loads automatically when you next sign 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Global Menu folders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opens a sub-menu of windows and toggles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15544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21792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Airspace Management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Activate, schedule and deactivate restricted/danger areas. Open the AM window from here.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06040" cy="15544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3410712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10712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10712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Plan window, Predicted Traffic, Group SSR code window, departure tools.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06040" cy="15544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199632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99632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Tools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99632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Notepad, ATC Messages, Message In / Out (coordination), Stack Manager, CARD.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606040" cy="15544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621792" y="2990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264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1792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Messages, Upper Winds, weather radar overlay on the ASD.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880360"/>
            <a:ext cx="2606040" cy="15544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3410712" y="2990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10712" y="3264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10712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Airfield Data, Misc Information, NOTAM list, General Info.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880360"/>
            <a:ext cx="2606040" cy="15544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6199632" y="2990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9632" y="3264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displays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199632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Nets Status, TCT Status, MTCD Status, Divergence Detection Status.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2331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Situation Display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0" y="32461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Tracks, the radar picture, and the Radar Menu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presentation on the ASD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aircraft is drawn as a track + label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115568"/>
            <a:ext cx="3346704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0" descr="/sessions/loving-quirky-goldberg/mnt/outputs/deck_imgs/track_label_basi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320040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9933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3-line tag. Each piece of text is clickable.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023360" y="11887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callsign to open the Callsign menu — the most-used menu in the plugin.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data field (CFL, RFL, AHDG, ASP, etc.) to change just that value.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in empty space on the ASD to open the Radar Menu.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track or its leader-line to reposition the label.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64008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doc: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§ 5 Air Situation Display, § 6 Track label menus, Appendix 1 (Label field descriptions).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Radar Menu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on empty space anywhere on the ASD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115568"/>
            <a:ext cx="1837944" cy="334670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0" descr="/sessions/loving-quirky-goldberg/mnt/outputs/deck_imgs/radar_menu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188720"/>
            <a:ext cx="1691640" cy="3200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0" y="118872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QDM — bearing/distance from cursor.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— separation tool between two tracks.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Look — temporarily reveal hidden tracks.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Maps… — toggle which sector-file maps are drawn.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Control… — choose label fields per state.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View… — saved view positions / zoom presets.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/ Altitude / SSR / CJI / LAT-LONG — picture filters.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Track — search by callsign.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Marker / Direction Finder — display add-ons.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menu controls the radar picture itself, not individual aircraft.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Control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 fields appear on the tag for each track state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115568"/>
            <a:ext cx="2523744" cy="352958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0" descr="/sessions/loving-quirky-goldberg/mnt/outputs/deck_imgs/track_contro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188720"/>
            <a:ext cx="2377440" cy="3383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383280" y="1188720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/ History / Text — sliders for trail and label thickness.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state columns: Co (concerned), Ass (assumed), Red (redundant), No (not concerned), All.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label field, tick which states it shows 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DAPs Fields = Downlinked Aircraft Parameters (selected vs. unselected).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Setup once configured — your label preferences persist.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2331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Label Menus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0" y="32461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clickable field on a tag does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Callsign menu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most-used menu in the plugin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069848"/>
            <a:ext cx="1700784" cy="371246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0" descr="/sessions/loving-quirky-goldberg/mnt/outputs/deck_imgs/callsign_menu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143000"/>
            <a:ext cx="1554480" cy="3566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68880" y="118872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— start hand-off to next sector.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Trf &amp; Release — transfer with a release condition.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 — give the aircraft a frequency.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/ QDM — show vector / bearing line.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/ S-Highlight — visual emphasis.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— open the Hold menu.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Trf — manual transfer to a chosen controller.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0" y="118872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— drop a private marker on the track.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FPL — open the Flight Plan window.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CPDLC / Squawk Ident — direct actions.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CPDLC Free Text — send custom uplink.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Est / Irregular / Missed App — status.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/ On Contact / XCouple — extras.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▼ — opens the secondary folder.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and Waypoint menus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clicks on the route fields of a tag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069848"/>
            <a:ext cx="1609344" cy="156362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0" descr="/sessions/loving-quirky-goldberg/mnt/outputs/deck_imgs/seq_menu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143000"/>
            <a:ext cx="1463040" cy="1417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7249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2898648"/>
            <a:ext cx="1609344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1" name="Image 1" descr="/sessions/loving-quirky-goldberg/mnt/outputs/deck_imgs/waypoint_menu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" y="2971800"/>
            <a:ext cx="1463040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43251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91840" y="1143000"/>
            <a:ext cx="5486400" cy="15544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0"/>
          <p:cNvSpPr/>
          <p:nvPr/>
        </p:nvSpPr>
        <p:spPr>
          <a:xfrm>
            <a:off x="347472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 menu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74720" y="15544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the Stack Manager — set or remove arrival sequence numbers, build holding patterns.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291840" y="2926080"/>
            <a:ext cx="5486400" cy="173736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3"/>
          <p:cNvSpPr/>
          <p:nvPr/>
        </p:nvSpPr>
        <p:spPr>
          <a:xfrm>
            <a:off x="3474720" y="3017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menu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474720" y="3337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waypoint in the route. Direct-to, insert, delete, or use Probe to coordinate a new entry/exit point with the next sector.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menus — AFL, CFL, RFL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fields, three different menus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115568"/>
            <a:ext cx="1426464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0" descr="/sessions/loving-quirky-goldberg/mnt/outputs/deck_imgs/afl_menu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1280160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9992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 — Actual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21408" y="1115568"/>
            <a:ext cx="1426464" cy="151790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1" name="Image 1" descr="/sessions/loving-quirky-goldberg/mnt/outputs/deck_imgs/cfl_menu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0" y="1188720"/>
            <a:ext cx="1280160" cy="1371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03120" y="2724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CFL — Cleared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58768" y="1115568"/>
            <a:ext cx="1426464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4" name="Image 2" descr="/sessions/loving-quirky-goldberg/mnt/outputs/deck_imgs/rfl_menu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31920" y="1188720"/>
            <a:ext cx="1280160" cy="21945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40480" y="35478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RFL — Requested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577840" y="1143000"/>
            <a:ext cx="3108960" cy="33832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2"/>
          <p:cNvSpPr/>
          <p:nvPr/>
        </p:nvSpPr>
        <p:spPr>
          <a:xfrm>
            <a:off x="576072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field cheat-sheet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760720" y="1554480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 — what the radar reports right now.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CFL — what you've cleared the aircraft to.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RFL — what's filed in the flight plan.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each to open its own picker.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RFL also offers Mach selection on oceanic.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menus — AHDG, ASP, ARC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speeds, and rates of climb/descent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069848"/>
            <a:ext cx="1335024" cy="325526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0" descr="/sessions/loving-quirky-goldberg/mnt/outputs/deck_imgs/ahdg_menu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43000"/>
            <a:ext cx="1188720" cy="3108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44165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AHDG — heading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38528" y="1069848"/>
            <a:ext cx="1335024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1" name="Image 1" descr="/sessions/loving-quirky-goldberg/mnt/outputs/deck_imgs/asp_menu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11680" y="1143000"/>
            <a:ext cx="1188720" cy="1645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2953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— speed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493008" y="1069848"/>
            <a:ext cx="1335024" cy="243230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4" name="Image 2" descr="/sessions/loving-quirky-goldberg/mnt/outputs/deck_imgs/arc_menu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66160" y="1143000"/>
            <a:ext cx="1188720" cy="2286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4720" y="3593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— rate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029200" y="118872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AHDG — assign or vector a heading. 'Point' lets you direct-to a fix.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— assign IAS, Mach, or speed restrictions.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— Assigned Rate of Climb/Descent — a rate clearance.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menu has a More ▼ folder containing HOP, RTI, TIP for sector coordination.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field menus at a glance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Less-used clickable fields, all on the tag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2697480" cy="169164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" name="Image 0" descr="/sessions/loving-quirky-goldberg/mnt/outputs/deck_imgs/ssr_menu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280160"/>
            <a:ext cx="640080" cy="1417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325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Code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80160" y="16459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or change the assigned squawk.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143000"/>
            <a:ext cx="2697480" cy="169164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2" name="Image 1" descr="/sessions/loving-quirky-goldberg/mnt/outputs/deck_imgs/combined_xf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83280" y="1280160"/>
            <a:ext cx="640080" cy="1417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1325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Transfer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160520" y="16459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 HOP coordination in one place.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1143000"/>
            <a:ext cx="2697480" cy="169164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6" name="Image 2" descr="/sessions/loving-quirky-goldberg/mnt/outputs/deck_imgs/aerodrom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63640" y="1280160"/>
            <a:ext cx="640080" cy="1417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0880" y="1325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Aerodrome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040880" y="16459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Departure/destination quick edit.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65760" y="2971800"/>
            <a:ext cx="2697480" cy="169164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0" name="Image 3" descr="/sessions/loving-quirky-goldberg/mnt/outputs/deck_imgs/time_menu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2920" y="3108960"/>
            <a:ext cx="640080" cy="1417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280160" y="34747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Estimate/ATD/ATA editing for the FPL.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246120" y="2971800"/>
            <a:ext cx="2697480" cy="169164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4" name="Image 4" descr="/sessions/loving-quirky-goldberg/mnt/outputs/deck_imgs/dep_seq_menu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83280" y="3108960"/>
            <a:ext cx="640080" cy="1417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16052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Seq.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160520" y="34747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departing traffic.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126480" y="2971800"/>
            <a:ext cx="2697480" cy="169164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8" name="Image 5" descr="/sessions/loving-quirky-goldberg/mnt/outputs/deck_imgs/gap_menu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263640" y="3108960"/>
            <a:ext cx="640080" cy="1417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04088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7040880" y="34747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separation gap into a sequence.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2331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0" y="32461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pop-up panels you'll keep open at all times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always-open windows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only open four, open these four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115568"/>
            <a:ext cx="1700784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0" descr="/sessions/loving-quirky-goldberg/mnt/outputs/deck_imgs/clock_wind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188720"/>
            <a:ext cx="155448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2677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Window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95728" y="1115568"/>
            <a:ext cx="1426464" cy="170078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1" name="Image 1" descr="/sessions/loving-quirky-goldberg/mnt/outputs/deck_imgs/brightness_window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68880" y="1188720"/>
            <a:ext cx="1280160" cy="1554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77440" y="2907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Control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041648" y="1115568"/>
            <a:ext cx="4626864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4" name="Image 2" descr="/sessions/loving-quirky-goldberg/mnt/outputs/deck_imgs/msg_in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14800" y="1188720"/>
            <a:ext cx="4480560" cy="914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23360" y="226771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In Window — incoming coordinations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784848" y="2395728"/>
            <a:ext cx="1883664" cy="197510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7" name="Image 3" descr="/sessions/loving-quirky-goldberg/mnt/outputs/deck_imgs/atc_msgs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58000" y="2468880"/>
            <a:ext cx="1737360" cy="1828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66560" y="4462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 Messages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548640" y="310896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— UTC reference; click to open larger.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— drag ASD background up/down without leaving sim.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In — every incoming PEL / XFL / HOP arrives here.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 Messages — broadcast text traffic on your sector.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data windows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from FData / Tools / Callsign menu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069848"/>
            <a:ext cx="4169664" cy="325526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0" descr="/sessions/loving-quirky-goldberg/mnt/outputs/deck_imgs/flight_pla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43000"/>
            <a:ext cx="4023360" cy="3108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44165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Plan window — full FPL editor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143000"/>
            <a:ext cx="3931920" cy="3108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37760" y="15087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buttons — CRE, MOD, Find, Activate, SAC, Terminate, CNL.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C/S, RTE — callsign and full route editing.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/ CREAPL / MODAPL — push the FPL to the network.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row — Strip, INI, OCM Tx, Refresh, Apply, Cancel.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via FPL on the Callsign menu, or FData → FPL Selection.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sequence helpers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routes, build holds, see conflicts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115568"/>
            <a:ext cx="2889504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0" descr="/sessions/loving-quirky-goldberg/mnt/outputs/deck_imgs/complete_rou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2743200" cy="1188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5420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Route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84048" y="2761488"/>
            <a:ext cx="2432304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1" name="Image 1" descr="/sessions/loving-quirky-goldberg/mnt/outputs/deck_imgs/stack_mg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2834640"/>
            <a:ext cx="2286000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41879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Manager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310128" y="1115568"/>
            <a:ext cx="2340864" cy="151790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4" name="Image 2" descr="/sessions/loving-quirky-goldberg/mnt/outputs/deck_imgs/card_window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83280" y="1188720"/>
            <a:ext cx="2194560" cy="1371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91840" y="2724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— Conflict And Risk Display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852160" y="1143000"/>
            <a:ext cx="2834640" cy="33832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2"/>
          <p:cNvSpPr/>
          <p:nvPr/>
        </p:nvSpPr>
        <p:spPr>
          <a:xfrm>
            <a:off x="6035040" y="1234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035040" y="155448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Route — full string and waypoints in time order.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Manager — assemble and re-order arrival sequences.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— surface MTCD-detected conflicts with one row per pair.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CPDLC windows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 messaging — see Data Link doc for full 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115568"/>
            <a:ext cx="2523744" cy="343814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0" descr="/sessions/loving-quirky-goldberg/mnt/outputs/deck_imgs/cpdlc_cur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237744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46451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Message Window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35808" y="1115568"/>
            <a:ext cx="2523744" cy="183794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1" name="Image 1" descr="/sessions/loving-quirky-goldberg/mnt/outputs/deck_imgs/cpdlc_his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08960" y="1188720"/>
            <a:ext cx="2377440" cy="1691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17520" y="30449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035808" y="3035808"/>
            <a:ext cx="2523744" cy="151790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4" name="Image 2" descr="/sessions/loving-quirky-goldberg/mnt/outputs/deck_imgs/microphon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08960" y="3108960"/>
            <a:ext cx="2377440" cy="1371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17520" y="46451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Check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852160" y="118872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— open exchanges, awaiting your action.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— completed and timed-out messages.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filterable by aircraft state.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and standard uplinks come from the Callsign menu's CPDLC items.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CPDLC Setting Window from Setup to tune callsign filters.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and Info windows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and reference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115568"/>
            <a:ext cx="2340864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0" descr="/sessions/loving-quirky-goldberg/mnt/outputs/deck_imgs/weather_ms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21945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1762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Messages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84048" y="2212848"/>
            <a:ext cx="2340864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1" name="Image 1" descr="/sessions/loving-quirky-goldberg/mnt/outputs/deck_imgs/wind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2286000"/>
            <a:ext cx="2194560" cy="1097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35478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Winds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852928" y="1115568"/>
            <a:ext cx="2432304" cy="142646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4" name="Image 2" descr="/sessions/loving-quirky-goldberg/mnt/outputs/deck_imgs/airfiel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926080" y="1188720"/>
            <a:ext cx="2286000" cy="12801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34640" y="2633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Airfield Data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852928" y="2670048"/>
            <a:ext cx="2432304" cy="170078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7" name="Image 3" descr="/sessions/loving-quirky-goldberg/mnt/outputs/deck_imgs/misc_info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926080" y="2743200"/>
            <a:ext cx="2286000" cy="1554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834640" y="44622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 Information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5486400" y="118872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Messages — METAR/TAF and SIGMET feed.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Winds — winds aloft summary.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Airfield Data — runway, QNH, transition level.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 Info — multipurpose panel for sector-specific data.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windows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from STS — show what's enabled and inhibited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115568"/>
            <a:ext cx="1975104" cy="334670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0" descr="/sessions/loving-quirky-goldberg/mnt/outputs/deck_imgs/safety_statu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1828800" cy="3200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4553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Nets &amp; TCT Status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95728" y="1115568"/>
            <a:ext cx="1883664" cy="288950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1" name="Image 1" descr="/sessions/loving-quirky-goldberg/mnt/outputs/deck_imgs/tct_statu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68880" y="1188720"/>
            <a:ext cx="1737360" cy="2743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77440" y="4096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TCT Status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361688" y="1115568"/>
            <a:ext cx="1883664" cy="142646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4" name="Image 2" descr="/sessions/loving-quirky-goldberg/mnt/outputs/deck_imgs/diverg_statu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34840" y="1188720"/>
            <a:ext cx="1737360" cy="12801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3400" y="26334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Detection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400800" y="118872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safety-net (STCA, MSAW, APW, AIW, TCT, BS) has an On/Off toggle here.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 specific callsigns or SSR codes — useful for VFR trainers.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Inhibition Areas list — geographic exclusions.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looks broken, this is the first place to check.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windows you'll meet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windows for different roles — Tower, Approach, Area, Oceanic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" y="1115568"/>
            <a:ext cx="1883664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0" descr="/sessions/loving-quirky-goldberg/mnt/outputs/deck_imgs/runway_us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88720"/>
            <a:ext cx="1737360" cy="1188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542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Rate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258568" y="1115568"/>
            <a:ext cx="1883664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1" name="Image 1" descr="/sessions/loving-quirky-goldberg/mnt/outputs/deck_imgs/runway_ap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31720" y="1188720"/>
            <a:ext cx="1737360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40280" y="2542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Traffic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224528" y="1115568"/>
            <a:ext cx="2157984" cy="183794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4" name="Image 2" descr="/sessions/loving-quirky-goldberg/mnt/outputs/deck_imgs/ops_rat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297680" y="1188720"/>
            <a:ext cx="2011680" cy="1691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06240" y="30449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ATFM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464808" y="1115568"/>
            <a:ext cx="1700784" cy="183794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7" name="Image 3" descr="/sessions/loving-quirky-goldberg/mnt/outputs/deck_imgs/atfm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37960" y="1188720"/>
            <a:ext cx="1554480" cy="1691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46520" y="30449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Clearance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292608" y="3218688"/>
            <a:ext cx="4352544" cy="92354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0" name="Image 4" descr="/sessions/loving-quirky-goldberg/mnt/outputs/deck_imgs/pdc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5760" y="3291840"/>
            <a:ext cx="4206240" cy="7772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74320" y="42336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List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4773168" y="3218688"/>
            <a:ext cx="3986784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3" name="Image 5" descr="/sessions/loving-quirky-goldberg/mnt/outputs/deck_imgs/nat_list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846320" y="3291840"/>
            <a:ext cx="3840480" cy="9144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754880" y="43708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List (oceanic)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them only when you need them — every window adds a refresh-rate cost.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Airspace Management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Activate, schedule and end restricted areas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069848"/>
            <a:ext cx="5175504" cy="2432304"/>
          </a:xfrm>
          <a:prstGeom prst="rect">
            <a:avLst/>
          </a:prstGeom>
          <a:solidFill>
            <a:srgbClr val="FFFFFF"/>
          </a:solidFill>
          <a:ln w="6350">
            <a:solidFill>
              <a:srgbClr val="1F2B47"/>
            </a:solidFill>
            <a:prstDash val="solid"/>
          </a:ln>
          <a:effectLst>
            <a:outerShdw blurRad="1016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0" descr="/sessions/loving-quirky-goldberg/mnt/outputs/deck_imgs/airspace_mgm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43000"/>
            <a:ext cx="5029200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359359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Airspace Management — start dates / times by area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1143000"/>
            <a:ext cx="3017520" cy="33832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585216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52160" y="1554480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from the AMS folder.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airspace block.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Start/End columns drive when it's drawn on the ASD.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/ Upper limits in flight levels.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column for scheduled activations.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commit changes.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2331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Safety Nets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0" y="32461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lists, shortcuts, and the alerts that watch your sector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lists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fields as a tag, in row form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96265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flights currently in your sector.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Factor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loading and complexity metrics.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Resectorisation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 affected by a planned re-sec.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ETWR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To Way-points (your boundary fixes).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Uncontrolled List 1 /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 not yet assumed by anyone.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 gone radar-out.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Mgmt List 1 /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TMA-style configurable filters.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 in holding patterns.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Approach Sequencing Tool list.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lists let you click a row callsign to open the same menus you'd get on the radar tag.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nets at a glance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alerts. Toggle from STS or Setup → Safety Nets.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31920" cy="13258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73152" cy="1325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1168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 Conflict Alert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Imminent loss of separation between two tracks.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280160"/>
            <a:ext cx="3931920" cy="13258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617720" y="1280160"/>
            <a:ext cx="73152" cy="1325880"/>
          </a:xfrm>
          <a:prstGeom prst="rect">
            <a:avLst/>
          </a:prstGeom>
          <a:solidFill>
            <a:srgbClr val="E2A645"/>
          </a:solidFill>
          <a:ln w="12700">
            <a:solidFill>
              <a:srgbClr val="E2A6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MSAW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7220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Safe Altitude Warning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predicted below MSA.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3931920" cy="13258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73152" cy="1325880"/>
          </a:xfrm>
          <a:prstGeom prst="rect">
            <a:avLst/>
          </a:prstGeom>
          <a:solidFill>
            <a:srgbClr val="E2A645"/>
          </a:solidFill>
          <a:ln w="12700">
            <a:solidFill>
              <a:srgbClr val="E2A6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8580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APW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011680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Proximity Warning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3832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entry into a restricted/danger area.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2834640"/>
            <a:ext cx="3931920" cy="13258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4617720" y="2834640"/>
            <a:ext cx="73152" cy="1325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484632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AIW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72200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Airspace Infringement Warning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3832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has entered an area without clearance.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doc: General § 10 Safety Nets.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aids and conflict probe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watch traffic for you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96012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307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Controller Tool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Solo-tracker tagged display for clearance writing — one aircraft, one screen area.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3931920" cy="96012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754880" y="1280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307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Level Adherence Mon.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when an aircraft drifts off its CFL.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3931920" cy="96012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94360" y="2377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404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Adherence Monitoring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when an aircraft drifts off its filed/cleared route.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286000"/>
            <a:ext cx="3931920" cy="96012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754880" y="2377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7840" y="2404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 Conflict Detection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the next ~20 min of flight plans for conflicts.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3931920" cy="96012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594360" y="3474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3502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Segregated Area Probe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3794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flight plans against active areas (D/R/etc.).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17720" y="3383280"/>
            <a:ext cx="3931920" cy="96012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4754880" y="3474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77840" y="3502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794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tracks the radar coverage doesn't actually see.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you'll use every session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B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/ F2 / 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/ focus the configured plugin window for that slot.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Shift + Click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Multi-select, or extend an action to multiple tracks.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Click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 on most menu items — alternate behaviours.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Right-click empty ASD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the Radar Menu.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Right-click a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the track context menu (varies by setup).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most pop-up menus and message dialogs.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General § 9 Keyboard shortcuts for the full set — your local profile may add more.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2331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0" y="32461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to the next sector through the plugin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coordination works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controllers, two label colours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31920" cy="15544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Transferring controller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ABC123 IDA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^ OLDPT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3931920" cy="15544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controller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ABC123 IDT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^ OLDPT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Coordinations colour-code values you propose (Out) and values proposed to you (In).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by clicking the proposed value and choosing Accept, Refuse or Change.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keep the Message In window open — that's where incoming coordinations land.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coords (ROF, RTI, TIP) need a TopSky-using counterpart; otherwise fall back to text/voice.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&amp; points — PEL/COPN and XFL/COPX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everyday entry/exit coordinations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73152" cy="32918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6858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 / COPN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Entry Level / Entry Point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PEL value → choose new level.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COPN value → Waypoint menu → Probe → choose point.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side answers Accept / Refuse / Change.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329184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73152" cy="32918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98348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XFL / COPX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Flight Level / Exit Point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21031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XFL value → choose new level.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COPX value → Waypoint menu → Probe → choose point.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colour change confirm your proposal.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Granting the next sector freedom to climb / descend / vector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'Release' is given by the transferring controller to allow the accepting controller to climb, descend, or change heading before the standard handoff conditions apply.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for climb — accepting controller may climb the aircraft early.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for descent — same idea, the other way.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for turn — heading changes permitted.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via Trf &amp; Release on the Callsign menu, or as part of HOP.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the label until the transfer completes.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and ROF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Hand-Over Proposal and Request On Frequency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73152" cy="32918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6858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Hand-Over Proposal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by transferring controller to propose a transfer.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via Callsign → HOP — or AHDG/ASP → More → HOP for a conditional.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answers: ROF, Accept, or Combined Transfer.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recipient isn't on TopSky, only your label is updated.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329184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73152" cy="32918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98348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On Frequency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21031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by accepting controller — "the aircraft is on my frequency".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as an answer to HOP.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via Callsign → ROF.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Indications: ROF in In/Out colour, removed on Transfer or Trf &amp; Release.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RTI and TIP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instruction coordination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when one controller wants the other to apply a heading/speed/rate or arc clearance before the formal handoff.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023360" cy="219456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73152" cy="21945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Tactical Instruction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2004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Initiated by accepting controller. "Please vector / restrict speed before sending."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286000"/>
            <a:ext cx="4023360" cy="219456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4754880" y="2286000"/>
            <a:ext cx="73152" cy="21945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98348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834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Instruction Proposal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32004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Initiated by transferring controller. "I propose this restriction before the handoff."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via AHDG / ASP / ARC → More → RTI or TIP. Answers come back in the Message In window.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2331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tips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0" y="32461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common pitfalls, and where to read more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considerations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refresh rates high while panning and zooming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C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only the maps you actively need.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ASD background brightness to 100% if it lags.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windows you aren't currently using.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Track Control labels by state — fewer fields = smoother panning.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 Weather Map on at low altitudes when not needed.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every active area when only a few apply.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with all Safety Nets and CARD open on a low-end machine.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settings mid-session — restart EuroScope after big changes.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doc: General § 3 Performance considerations.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for new users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looks wrong, start here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96012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4864" cy="960120"/>
          </a:xfrm>
          <a:prstGeom prst="rect">
            <a:avLst/>
          </a:prstGeom>
          <a:solidFill>
            <a:srgbClr val="E2A645"/>
          </a:solidFill>
          <a:ln w="12700">
            <a:solidFill>
              <a:srgbClr val="E2A6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 Menu visible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not loaded, or Setup A active. Check COOPANS=1 in plugin settings.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3931920" cy="96012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617720" y="1188720"/>
            <a:ext cx="54864" cy="960120"/>
          </a:xfrm>
          <a:prstGeom prst="rect">
            <a:avLst/>
          </a:prstGeom>
          <a:solidFill>
            <a:srgbClr val="E2A645"/>
          </a:solidFill>
          <a:ln w="12700">
            <a:solidFill>
              <a:srgbClr val="E2A6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greyed out in menu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not met — try again, or use text/voice as a fallback.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3931920" cy="96012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54864" cy="960120"/>
          </a:xfrm>
          <a:prstGeom prst="rect">
            <a:avLst/>
          </a:prstGeom>
          <a:solidFill>
            <a:srgbClr val="E2A645"/>
          </a:solidFill>
          <a:ln w="12700">
            <a:solidFill>
              <a:srgbClr val="E2A6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4008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has no label fields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Track Control and tick fields against the right state column.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286000"/>
            <a:ext cx="3931920" cy="96012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4617720" y="2286000"/>
            <a:ext cx="54864" cy="960120"/>
          </a:xfrm>
          <a:prstGeom prst="rect">
            <a:avLst/>
          </a:prstGeom>
          <a:solidFill>
            <a:srgbClr val="E2A645"/>
          </a:solidFill>
          <a:ln w="12700">
            <a:solidFill>
              <a:srgbClr val="E2A6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480060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 not firing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Safety Nets Status — it may be inhibited for callsign or area.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3931920" cy="96012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54864" cy="960120"/>
          </a:xfrm>
          <a:prstGeom prst="rect">
            <a:avLst/>
          </a:prstGeom>
          <a:solidFill>
            <a:srgbClr val="E2A645"/>
          </a:solidFill>
          <a:ln w="12700">
            <a:solidFill>
              <a:srgbClr val="E2A6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CPDLC items disabled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794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may not be CPDLC-equipped; check FPL equipment fields.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3383280"/>
            <a:ext cx="3931920" cy="96012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4617720" y="3383280"/>
            <a:ext cx="54864" cy="960120"/>
          </a:xfrm>
          <a:prstGeom prst="rect">
            <a:avLst/>
          </a:prstGeom>
          <a:solidFill>
            <a:srgbClr val="E2A645"/>
          </a:solidFill>
          <a:ln w="12700">
            <a:solidFill>
              <a:srgbClr val="E2A6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480060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keeps resetting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3794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haven't saved it — Save in Setup once you have it tuned.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TopSky 2.6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COOPANS Setup B</a:t>
            </a:r>
            <a:r>
              <a:rPr lang="en-US" sz="900" dirty="0">
                <a:solidFill>
                  <a:srgbClr val="1F2B47"/>
                </a:solidFill>
              </a:rPr>
              <a:t>  |  </a:t>
            </a: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read more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documents in your TopSky 2.6 manual 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51760" cy="3108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Information (B)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pages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 for menus, windows, lists, safety nets, monitoring aids, label fields, colour values.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2651760" cy="3108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3246120" y="1280160"/>
            <a:ext cx="26517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34290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(B)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6974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walkthrough of PEL/COPN, XFL/COPX, releases, HOP, ROF, RTI/TIP.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280160"/>
            <a:ext cx="2651760" cy="310896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B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6035040" y="1280160"/>
            <a:ext cx="26517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621792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DATALINK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 Functions (B)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792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6974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CPDLC logon, ADS-C contracts, free-text uplinks, message lifecycle.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tour.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2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EuroScope, load TopSky, click around — that's where it all clicks.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additions, or corrections — bring them to the CZQM training team.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4864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CZQM   •  Controller Training  •  TopSky 2.6 (COOPANS Setup B)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3462</Words>
  <Application>Microsoft Office PowerPoint</Application>
  <PresentationFormat>On-screen Show (16:9)</PresentationFormat>
  <Paragraphs>560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CZQM vACC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TopSky 2.6 — New User Walkthrough</dc:title>
  <dc:subject>TopSky plugin for EuroScope, COOPANS Setup B</dc:subject>
  <dc:creator>CZQM vACC</dc:creator>
  <cp:lastModifiedBy>Joel Morin</cp:lastModifiedBy>
  <cp:revision>2</cp:revision>
  <dcterms:created xsi:type="dcterms:W3CDTF">2026-05-07T14:27:20Z</dcterms:created>
  <dcterms:modified xsi:type="dcterms:W3CDTF">2026-05-07T14:39:54Z</dcterms:modified>
</cp:coreProperties>
</file>